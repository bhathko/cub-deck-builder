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65"/>
  </p:notesMasterIdLst>
  <p:handoutMasterIdLst>
    <p:handoutMasterId r:id="rId66"/>
  </p:handoutMasterIdLst>
  <p:sldIdLst>
    <p:sldId id="2741" r:id="rId71"/>
    <p:sldId id="2742" r:id="rId72"/>
    <p:sldId id="2743" r:id="rId73"/>
    <p:sldId id="2744" r:id="rId74"/>
    <p:sldId id="2745" r:id="rId75"/>
    <p:sldId id="2746" r:id="rId7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F8E4"/>
    <a:srgbClr val="E6E6E6"/>
    <a:srgbClr val="E9EBEF"/>
    <a:srgbClr val="ECEDEF"/>
    <a:srgbClr val="C5C4FF"/>
    <a:srgbClr val="FEFEFE"/>
    <a:srgbClr val="C00000"/>
    <a:srgbClr val="4AB7FA"/>
    <a:srgbClr val="344252"/>
    <a:srgbClr val="858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08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26" y="21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2" d="100"/>
        <a:sy n="82" d="100"/>
      </p:scale>
      <p:origin x="0" y="-12972"/>
    </p:cViewPr>
  </p:sorter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5" Type="http://schemas.openxmlformats.org/officeDocument/2006/relationships/notesMaster" Target="notesMasters/notesMaster1.xml"/><Relationship Id="rId66" Type="http://schemas.openxmlformats.org/officeDocument/2006/relationships/handoutMaster" Target="handoutMasters/handout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FFD71-D24C-41B1-8BD0-43460BF6209E}" type="datetimeFigureOut">
              <a:rPr lang="zh-TW" altLang="en-US" smtClean="0"/>
              <a:t>2026/7/30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F5A22-9296-4873-AFDA-2268D53AC6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59742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74462-EECD-436D-9056-D3B3144FC9A7}" type="datetimeFigureOut">
              <a:rPr lang="zh-TW" altLang="en-US" smtClean="0"/>
              <a:t>2026/7/30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4B643-0862-4EB5-A341-C9CB89F2EE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5605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2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(有小標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B0ABA02-1CED-1FE5-CFA4-02C8E89A28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57" t="8991" r="4093" b="8411"/>
          <a:stretch/>
        </p:blipFill>
        <p:spPr>
          <a:xfrm>
            <a:off x="-14367" y="0"/>
            <a:ext cx="12206367" cy="686179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4BC367F-ABF5-4077-3FBB-8372FAE276CB}"/>
              </a:ext>
            </a:extLst>
          </p:cNvPr>
          <p:cNvSpPr/>
          <p:nvPr userDrawn="1"/>
        </p:nvSpPr>
        <p:spPr>
          <a:xfrm>
            <a:off x="-14367" y="-3796"/>
            <a:ext cx="8898875" cy="6858000"/>
          </a:xfrm>
          <a:prstGeom prst="rect">
            <a:avLst/>
          </a:prstGeom>
          <a:gradFill flip="none" rotWithShape="1">
            <a:gsLst>
              <a:gs pos="33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4" name="標題 1"/>
          <p:cNvSpPr>
            <a:spLocks noGrp="1"/>
          </p:cNvSpPr>
          <p:nvPr userDrawn="1">
            <p:ph type="ctrTitle" hasCustomPrompt="1"/>
          </p:nvPr>
        </p:nvSpPr>
        <p:spPr>
          <a:xfrm>
            <a:off x="313127" y="2611694"/>
            <a:ext cx="6804798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ct val="120000"/>
              </a:lnSpc>
              <a:defRPr lang="zh-TW" altLang="en-US" sz="4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dirty="0"/>
              <a:t>按一下編輯標題</a:t>
            </a:r>
          </a:p>
        </p:txBody>
      </p:sp>
      <p:sp>
        <p:nvSpPr>
          <p:cNvPr id="15" name="副標題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313127" y="3398251"/>
            <a:ext cx="6804798" cy="369332"/>
          </a:xfrm>
          <a:noFill/>
          <a:ln>
            <a:noFill/>
          </a:ln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zh-TW" altLang="en-US" sz="20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TW" altLang="en-US" dirty="0"/>
              <a:t>按一下編輯副標題</a:t>
            </a:r>
          </a:p>
        </p:txBody>
      </p:sp>
      <p:sp>
        <p:nvSpPr>
          <p:cNvPr id="20" name="文字版面配置區 1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2019" y="2023057"/>
            <a:ext cx="1210588" cy="426646"/>
          </a:xfr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" bIns="0" rtlCol="0" anchor="ctr"/>
          <a:lstStyle>
            <a:lvl1pPr algn="ctr">
              <a:defRPr lang="zh-TW" altLang="en-US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zh-TW" altLang="en-US" dirty="0"/>
              <a:t>主題標籤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58F2EBB-A68F-9914-5F73-EDB1D5EB79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93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(無小標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B3519B0-D8E3-594E-16F7-793165506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57" t="8991" r="4093" b="8411"/>
          <a:stretch/>
        </p:blipFill>
        <p:spPr>
          <a:xfrm>
            <a:off x="-14367" y="0"/>
            <a:ext cx="12206367" cy="686179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B1094AB-4F79-1953-248B-71057B8A91FE}"/>
              </a:ext>
            </a:extLst>
          </p:cNvPr>
          <p:cNvSpPr/>
          <p:nvPr userDrawn="1"/>
        </p:nvSpPr>
        <p:spPr>
          <a:xfrm>
            <a:off x="-14367" y="-3796"/>
            <a:ext cx="8898875" cy="6858000"/>
          </a:xfrm>
          <a:prstGeom prst="rect">
            <a:avLst/>
          </a:prstGeom>
          <a:gradFill flip="none" rotWithShape="1">
            <a:gsLst>
              <a:gs pos="33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" name="文字版面配置區 19">
            <a:extLst>
              <a:ext uri="{FF2B5EF4-FFF2-40B4-BE49-F238E27FC236}">
                <a16:creationId xmlns:a16="http://schemas.microsoft.com/office/drawing/2014/main" id="{46823BB4-1BC4-640E-C4E2-F828BA2AD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498" y="2023057"/>
            <a:ext cx="1210588" cy="426646"/>
          </a:xfr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" bIns="0" rtlCol="0" anchor="ctr"/>
          <a:lstStyle>
            <a:lvl1pPr algn="ctr">
              <a:defRPr lang="zh-TW" altLang="en-US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zh-TW" altLang="en-US" dirty="0"/>
              <a:t>主題標籤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95FF815-9373-9D80-43B0-DDD1A317E8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F9258E75-60E8-3008-8947-A3960CBCE7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3127" y="2611694"/>
            <a:ext cx="6804798" cy="6463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ct val="120000"/>
              </a:lnSpc>
              <a:defRPr lang="zh-TW" altLang="en-US" sz="40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dirty="0"/>
              <a:t>按一下編輯標題</a:t>
            </a:r>
          </a:p>
        </p:txBody>
      </p:sp>
    </p:spTree>
    <p:extLst>
      <p:ext uri="{BB962C8B-B14F-4D97-AF65-F5344CB8AC3E}">
        <p14:creationId xmlns:p14="http://schemas.microsoft.com/office/powerpoint/2010/main" val="54344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錄">
    <p:bg>
      <p:bgPr>
        <a:gradFill>
          <a:gsLst>
            <a:gs pos="0">
              <a:srgbClr val="C5C4FF">
                <a:alpha val="29000"/>
              </a:srgbClr>
            </a:gs>
            <a:gs pos="29000">
              <a:srgbClr val="ECEDEF">
                <a:alpha val="79000"/>
              </a:srgbClr>
            </a:gs>
            <a:gs pos="77000">
              <a:srgbClr val="E9EBEF">
                <a:alpha val="76000"/>
              </a:srgbClr>
            </a:gs>
            <a:gs pos="100000">
              <a:srgbClr val="CEF8E4">
                <a:alpha val="50000"/>
              </a:srgbClr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637C78D-A8C4-5DD0-008A-F40C60258016}"/>
              </a:ext>
            </a:extLst>
          </p:cNvPr>
          <p:cNvSpPr/>
          <p:nvPr userDrawn="1"/>
        </p:nvSpPr>
        <p:spPr>
          <a:xfrm rot="10800000">
            <a:off x="-4" y="0"/>
            <a:ext cx="4362998" cy="6858000"/>
          </a:xfrm>
          <a:prstGeom prst="rect">
            <a:avLst/>
          </a:prstGeom>
          <a:gradFill flip="none" rotWithShape="1">
            <a:gsLst>
              <a:gs pos="100000">
                <a:srgbClr val="E6E9EE"/>
              </a:gs>
              <a:gs pos="2000">
                <a:srgbClr val="FFFFFF">
                  <a:alpha val="0"/>
                </a:srgbClr>
              </a:gs>
              <a:gs pos="62000">
                <a:srgbClr val="EDEEF4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743449" y="1077714"/>
            <a:ext cx="7168805" cy="4474418"/>
          </a:xfrm>
        </p:spPr>
        <p:txBody>
          <a:bodyPr anchor="t">
            <a:normAutofit/>
          </a:bodyPr>
          <a:lstStyle>
            <a:lvl1pPr marL="514350" indent="-514350" algn="l">
              <a:lnSpc>
                <a:spcPct val="150000"/>
              </a:lnSpc>
              <a:buClr>
                <a:schemeClr val="bg1">
                  <a:lumMod val="65000"/>
                </a:schemeClr>
              </a:buClr>
              <a:buSzPct val="120000"/>
              <a:buFont typeface="Wingdings" panose="05000000000000000000" pitchFamily="2" charset="2"/>
              <a:buAutoNum type="circleNumWdWhitePlain"/>
              <a:defRPr sz="2000" b="1">
                <a:solidFill>
                  <a:schemeClr val="tx2"/>
                </a:solidFill>
              </a:defRPr>
            </a:lvl1pPr>
            <a:lvl2pPr marL="457200" indent="0">
              <a:lnSpc>
                <a:spcPct val="150000"/>
              </a:lnSpc>
              <a:buFont typeface="Wingdings" panose="05000000000000000000" pitchFamily="2" charset="2"/>
              <a:buNone/>
              <a:defRPr b="0"/>
            </a:lvl2pPr>
            <a:lvl3pPr marL="1371600" indent="-457200">
              <a:lnSpc>
                <a:spcPct val="150000"/>
              </a:lnSpc>
              <a:buFont typeface="Wingdings" panose="05000000000000000000" pitchFamily="2" charset="2"/>
              <a:buAutoNum type="circleNumWdWhitePlain"/>
              <a:defRPr b="0"/>
            </a:lvl3pPr>
            <a:lvl4pPr marL="1714500" indent="-342900">
              <a:lnSpc>
                <a:spcPct val="150000"/>
              </a:lnSpc>
              <a:buFont typeface="Wingdings" panose="05000000000000000000" pitchFamily="2" charset="2"/>
              <a:buAutoNum type="circleNumWdWhitePlain"/>
              <a:defRPr b="0"/>
            </a:lvl4pPr>
            <a:lvl5pPr marL="2171700" indent="-342900">
              <a:lnSpc>
                <a:spcPct val="150000"/>
              </a:lnSpc>
              <a:buFont typeface="Wingdings" panose="05000000000000000000" pitchFamily="2" charset="2"/>
              <a:buAutoNum type="circleNumWdWhitePlain"/>
              <a:defRPr b="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0"/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E8E1E-9E6A-4A96-9BF7-1914460B6FB5}" type="slidenum">
              <a:rPr lang="en-US" altLang="zh-TW" smtClean="0"/>
              <a:pPr/>
              <a:t>‹#›</a:t>
            </a:fld>
            <a:endParaRPr 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636749" y="1767674"/>
            <a:ext cx="155371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TW" altLang="en-US" sz="4800" b="1" kern="1200" spc="300" dirty="0">
                <a:solidFill>
                  <a:schemeClr val="tx2"/>
                </a:solidFill>
                <a:latin typeface="+mj-ea"/>
                <a:ea typeface="+mn-ea"/>
                <a:cs typeface="+mn-cs"/>
              </a:rPr>
              <a:t>目錄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947AAE-5184-F1A3-F600-7AE5CFE38AFE}"/>
              </a:ext>
            </a:extLst>
          </p:cNvPr>
          <p:cNvSpPr/>
          <p:nvPr userDrawn="1"/>
        </p:nvSpPr>
        <p:spPr>
          <a:xfrm>
            <a:off x="717174" y="1209166"/>
            <a:ext cx="3151737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800" b="1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n-ea"/>
                <a:cs typeface="+mn-cs"/>
              </a:rPr>
              <a:t>Contents</a:t>
            </a:r>
            <a:endParaRPr lang="zh-TW" altLang="en-US" sz="2800" b="1" kern="1200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n-ea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9F9371D-729F-6E6C-F9A8-E2C77367E1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24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4"/>
          <p:cNvSpPr>
            <a:spLocks noGrp="1"/>
          </p:cNvSpPr>
          <p:nvPr>
            <p:ph type="title"/>
          </p:nvPr>
        </p:nvSpPr>
        <p:spPr>
          <a:xfrm>
            <a:off x="287645" y="180992"/>
            <a:ext cx="11609852" cy="58477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zh-TW" altLang="en-US" sz="3200" dirty="0">
                <a:solidFill>
                  <a:schemeClr val="tx2"/>
                </a:solidFill>
                <a:latin typeface="+mj-ea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E8E1E-9E6A-4A96-9BF7-1914460B6FB5}" type="slidenum">
              <a:rPr lang="en-US" altLang="zh-TW" smtClean="0"/>
              <a:pPr/>
              <a:t>‹#›</a:t>
            </a:fld>
            <a:endParaRPr lang="en-US" dirty="0"/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3" hasCustomPrompt="1"/>
          </p:nvPr>
        </p:nvSpPr>
        <p:spPr>
          <a:xfrm>
            <a:off x="287644" y="764763"/>
            <a:ext cx="11624609" cy="3693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zh-TW" alt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按一下以新增副標題</a:t>
            </a:r>
          </a:p>
        </p:txBody>
      </p:sp>
      <p:sp>
        <p:nvSpPr>
          <p:cNvPr id="13" name="文字版面配置區 4"/>
          <p:cNvSpPr>
            <a:spLocks noGrp="1"/>
          </p:cNvSpPr>
          <p:nvPr>
            <p:ph type="body" sz="quarter" idx="33" hasCustomPrompt="1"/>
          </p:nvPr>
        </p:nvSpPr>
        <p:spPr>
          <a:xfrm>
            <a:off x="9078345" y="320233"/>
            <a:ext cx="900000" cy="324000"/>
          </a:xfr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72000" rIns="91440" bIns="36000" rtlCol="0" anchor="ctr">
            <a:normAutofit/>
          </a:bodyPr>
          <a:lstStyle>
            <a:lvl1pPr>
              <a:defRPr lang="zh-TW" altLang="en-US" sz="14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zh-TW" altLang="en-US" dirty="0"/>
              <a:t>當前項目</a:t>
            </a:r>
          </a:p>
        </p:txBody>
      </p:sp>
      <p:sp>
        <p:nvSpPr>
          <p:cNvPr id="15" name="文字版面配置區 4"/>
          <p:cNvSpPr>
            <a:spLocks noGrp="1"/>
          </p:cNvSpPr>
          <p:nvPr>
            <p:ph type="body" sz="quarter" idx="35" hasCustomPrompt="1"/>
          </p:nvPr>
        </p:nvSpPr>
        <p:spPr>
          <a:xfrm>
            <a:off x="11004355" y="319984"/>
            <a:ext cx="900000" cy="324498"/>
          </a:xfrm>
          <a:solidFill>
            <a:schemeClr val="bg2">
              <a:lumMod val="60000"/>
              <a:lumOff val="40000"/>
            </a:schemeClr>
          </a:solidFill>
        </p:spPr>
        <p:txBody>
          <a:bodyPr vert="horz" wrap="square" lIns="91440" tIns="72000" rIns="91440" bIns="36000" rtlCol="0" anchor="ctr">
            <a:spAutoFit/>
          </a:bodyPr>
          <a:lstStyle>
            <a:lvl1pPr algn="ctr">
              <a:defRPr lang="zh-TW" altLang="en-US" sz="1400" dirty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子項目</a:t>
            </a:r>
          </a:p>
        </p:txBody>
      </p:sp>
      <p:sp>
        <p:nvSpPr>
          <p:cNvPr id="8" name="文字版面配置區 4">
            <a:extLst>
              <a:ext uri="{FF2B5EF4-FFF2-40B4-BE49-F238E27FC236}">
                <a16:creationId xmlns:a16="http://schemas.microsoft.com/office/drawing/2014/main" id="{8CD40C1F-6767-4D70-8405-0C1FE674BA2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37921" y="319984"/>
            <a:ext cx="900000" cy="324498"/>
          </a:xfrm>
          <a:solidFill>
            <a:schemeClr val="bg2">
              <a:lumMod val="60000"/>
              <a:lumOff val="40000"/>
            </a:schemeClr>
          </a:solidFill>
        </p:spPr>
        <p:txBody>
          <a:bodyPr vert="horz" wrap="square" lIns="91440" tIns="72000" rIns="91440" bIns="36000" rtlCol="0" anchor="ctr">
            <a:spAutoFit/>
          </a:bodyPr>
          <a:lstStyle>
            <a:lvl1pPr algn="ctr">
              <a:defRPr lang="zh-TW" altLang="en-US" sz="1400" dirty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子項目</a:t>
            </a:r>
          </a:p>
        </p:txBody>
      </p:sp>
      <p:pic>
        <p:nvPicPr>
          <p:cNvPr id="20" name="expA_content_bg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1" name="expA_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3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4"/>
          <p:cNvSpPr>
            <a:spLocks noGrp="1"/>
          </p:cNvSpPr>
          <p:nvPr>
            <p:ph type="title"/>
          </p:nvPr>
        </p:nvSpPr>
        <p:spPr>
          <a:xfrm>
            <a:off x="287645" y="180992"/>
            <a:ext cx="11609852" cy="58477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zh-TW" altLang="en-US" sz="3200" dirty="0">
                <a:solidFill>
                  <a:schemeClr val="tx2"/>
                </a:solidFill>
                <a:latin typeface="+mj-ea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E8E1E-9E6A-4A96-9BF7-1914460B6FB5}" type="slidenum">
              <a:rPr lang="en-US" altLang="zh-TW" smtClean="0"/>
              <a:pPr/>
              <a:t>‹#›</a:t>
            </a:fld>
            <a:endParaRPr lang="en-US" dirty="0"/>
          </a:p>
        </p:txBody>
      </p:sp>
      <p:sp>
        <p:nvSpPr>
          <p:cNvPr id="13" name="文字版面配置區 4"/>
          <p:cNvSpPr>
            <a:spLocks noGrp="1"/>
          </p:cNvSpPr>
          <p:nvPr>
            <p:ph type="body" sz="quarter" idx="33" hasCustomPrompt="1"/>
          </p:nvPr>
        </p:nvSpPr>
        <p:spPr>
          <a:xfrm>
            <a:off x="9078345" y="325657"/>
            <a:ext cx="900000" cy="324000"/>
          </a:xfr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72000" rIns="91440" bIns="36000" rtlCol="0" anchor="ctr">
            <a:normAutofit/>
          </a:bodyPr>
          <a:lstStyle>
            <a:lvl1pPr>
              <a:defRPr lang="zh-TW" altLang="en-US" sz="14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zh-TW" altLang="en-US" dirty="0"/>
              <a:t>當前項目</a:t>
            </a:r>
          </a:p>
        </p:txBody>
      </p:sp>
      <p:sp>
        <p:nvSpPr>
          <p:cNvPr id="14" name="文字版面配置區 4"/>
          <p:cNvSpPr>
            <a:spLocks noGrp="1"/>
          </p:cNvSpPr>
          <p:nvPr>
            <p:ph type="body" sz="quarter" idx="34" hasCustomPrompt="1"/>
          </p:nvPr>
        </p:nvSpPr>
        <p:spPr>
          <a:xfrm>
            <a:off x="10041350" y="325408"/>
            <a:ext cx="900000" cy="324498"/>
          </a:xfrm>
          <a:solidFill>
            <a:schemeClr val="bg2">
              <a:lumMod val="60000"/>
              <a:lumOff val="40000"/>
            </a:schemeClr>
          </a:solidFill>
        </p:spPr>
        <p:txBody>
          <a:bodyPr vert="horz" wrap="square" lIns="91440" tIns="72000" rIns="91440" bIns="36000" rtlCol="0" anchor="ctr">
            <a:spAutoFit/>
          </a:bodyPr>
          <a:lstStyle>
            <a:lvl1pPr>
              <a:defRPr lang="zh-TW" altLang="en-US" sz="1400" dirty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子項目</a:t>
            </a:r>
          </a:p>
        </p:txBody>
      </p:sp>
      <p:sp>
        <p:nvSpPr>
          <p:cNvPr id="15" name="文字版面配置區 4"/>
          <p:cNvSpPr>
            <a:spLocks noGrp="1"/>
          </p:cNvSpPr>
          <p:nvPr>
            <p:ph type="body" sz="quarter" idx="35" hasCustomPrompt="1"/>
          </p:nvPr>
        </p:nvSpPr>
        <p:spPr>
          <a:xfrm>
            <a:off x="11004355" y="325408"/>
            <a:ext cx="900000" cy="324498"/>
          </a:xfrm>
          <a:solidFill>
            <a:schemeClr val="bg2">
              <a:lumMod val="60000"/>
              <a:lumOff val="40000"/>
            </a:schemeClr>
          </a:solidFill>
        </p:spPr>
        <p:txBody>
          <a:bodyPr vert="horz" wrap="square" lIns="91440" tIns="72000" rIns="91440" bIns="36000" rtlCol="0" anchor="ctr">
            <a:spAutoFit/>
          </a:bodyPr>
          <a:lstStyle>
            <a:lvl1pPr>
              <a:defRPr lang="zh-TW" altLang="en-US" sz="1400" dirty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algn="ctr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子項目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A90935DD-A9E2-17F5-3708-E74139A99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644" y="1134095"/>
            <a:ext cx="11609853" cy="472300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>
                <a:solidFill>
                  <a:schemeClr val="tx2"/>
                </a:solidFill>
                <a:latin typeface="+mj-ea"/>
                <a:ea typeface="+mj-ea"/>
              </a:defRPr>
            </a:lvl1pPr>
            <a:lvl2pPr marL="742950" indent="-285750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ea"/>
                <a:ea typeface="+mj-ea"/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文字版面配置區 18">
            <a:extLst>
              <a:ext uri="{FF2B5EF4-FFF2-40B4-BE49-F238E27FC236}">
                <a16:creationId xmlns:a16="http://schemas.microsoft.com/office/drawing/2014/main" id="{AE856760-9498-EA72-DE5F-1F5EC0934E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644" y="764763"/>
            <a:ext cx="11624609" cy="3693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zh-TW" alt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TW" altLang="en-US" dirty="0"/>
              <a:t>按一下以新增副標題</a:t>
            </a:r>
          </a:p>
        </p:txBody>
      </p:sp>
    </p:spTree>
    <p:extLst>
      <p:ext uri="{BB962C8B-B14F-4D97-AF65-F5344CB8AC3E}">
        <p14:creationId xmlns:p14="http://schemas.microsoft.com/office/powerpoint/2010/main" val="220307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場/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7">
            <a:extLst>
              <a:ext uri="{FF2B5EF4-FFF2-40B4-BE49-F238E27FC236}">
                <a16:creationId xmlns:a16="http://schemas.microsoft.com/office/drawing/2014/main" id="{E83184DB-C108-48EB-AE0A-383050C910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3278" y="2493509"/>
            <a:ext cx="2105444" cy="584775"/>
          </a:xfrm>
        </p:spPr>
        <p:txBody>
          <a:bodyPr wrap="square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3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TW" altLang="en-US" dirty="0"/>
              <a:t>標題文字</a:t>
            </a:r>
          </a:p>
        </p:txBody>
      </p:sp>
      <p:sp>
        <p:nvSpPr>
          <p:cNvPr id="3" name="文字版面配置區 7">
            <a:extLst>
              <a:ext uri="{FF2B5EF4-FFF2-40B4-BE49-F238E27FC236}">
                <a16:creationId xmlns:a16="http://schemas.microsoft.com/office/drawing/2014/main" id="{D38F6F9F-E157-48F4-B906-4F21FA1C5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6585" y="3194942"/>
            <a:ext cx="3518831" cy="400110"/>
          </a:xfrm>
        </p:spPr>
        <p:txBody>
          <a:bodyPr wrap="square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 smtClean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zh-TW" altLang="en-US" sz="1800" b="1" kern="1200" dirty="0">
                <a:solidFill>
                  <a:srgbClr val="FA8B1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說明文字說明文字說明文字</a:t>
            </a:r>
          </a:p>
        </p:txBody>
      </p:sp>
    </p:spTree>
    <p:extLst>
      <p:ext uri="{BB962C8B-B14F-4D97-AF65-F5344CB8AC3E}">
        <p14:creationId xmlns:p14="http://schemas.microsoft.com/office/powerpoint/2010/main" val="299815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(白底)">
    <p:bg>
      <p:bgPr>
        <a:gradFill>
          <a:gsLst>
            <a:gs pos="0">
              <a:srgbClr val="C5C4FF">
                <a:alpha val="29000"/>
              </a:srgbClr>
            </a:gs>
            <a:gs pos="29000">
              <a:srgbClr val="ECEDEF">
                <a:alpha val="79000"/>
              </a:srgbClr>
            </a:gs>
            <a:gs pos="77000">
              <a:srgbClr val="E9EBEF">
                <a:alpha val="76000"/>
              </a:srgbClr>
            </a:gs>
            <a:gs pos="100000">
              <a:srgbClr val="CEF8E4">
                <a:alpha val="50000"/>
              </a:srgbClr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0E8E1E-9E6A-4A96-9BF7-1914460B6FB5}" type="slidenum">
              <a:rPr lang="en-US" altLang="zh-TW" smtClean="0"/>
              <a:pPr/>
              <a:t>‹#›</a:t>
            </a:fld>
            <a:endParaRPr lang="en-US" dirty="0"/>
          </a:p>
        </p:txBody>
      </p:sp>
      <p:pic>
        <p:nvPicPr>
          <p:cNvPr id="4" name="expA_content_bg" descr="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expA_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4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故事情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3">
            <a:extLst>
              <a:ext uri="{FF2B5EF4-FFF2-40B4-BE49-F238E27FC236}">
                <a16:creationId xmlns:a16="http://schemas.microsoft.com/office/drawing/2014/main" id="{5EBCF797-5AFB-488D-9BD2-C6B3959B43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880" y="939339"/>
            <a:ext cx="5066944" cy="5299536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zh-TW" altLang="en-US" dirty="0"/>
              <a:t>按一下圖示以新增圖片</a:t>
            </a:r>
          </a:p>
        </p:txBody>
      </p:sp>
      <p:sp>
        <p:nvSpPr>
          <p:cNvPr id="4" name="圖片版面配置區 4">
            <a:extLst>
              <a:ext uri="{FF2B5EF4-FFF2-40B4-BE49-F238E27FC236}">
                <a16:creationId xmlns:a16="http://schemas.microsoft.com/office/drawing/2014/main" id="{8C4BF591-5D37-446C-9C5E-DE35C84D90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6115" y="939339"/>
            <a:ext cx="5066944" cy="5299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按一下圖示以新增圖片</a:t>
            </a:r>
          </a:p>
        </p:txBody>
      </p:sp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3ABC6C9B-8713-484C-BFE1-0E6BEC611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281" y="6352389"/>
            <a:ext cx="864973" cy="365125"/>
          </a:xfrm>
          <a:prstGeom prst="rect">
            <a:avLst/>
          </a:prstGeom>
        </p:spPr>
        <p:txBody>
          <a:bodyPr/>
          <a:lstStyle>
            <a:lvl1pPr algn="r">
              <a:defRPr lang="en-US" altLang="zh-TW" sz="24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E0E8E1E-9E6A-4A96-9BF7-1914460B6FB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7" name="文字版面配置區 10">
            <a:extLst>
              <a:ext uri="{FF2B5EF4-FFF2-40B4-BE49-F238E27FC236}">
                <a16:creationId xmlns:a16="http://schemas.microsoft.com/office/drawing/2014/main" id="{C03CC5A0-FD7A-4966-9674-77409F54E2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" y="311553"/>
            <a:ext cx="5066944" cy="461665"/>
          </a:xfrm>
        </p:spPr>
        <p:txBody>
          <a:bodyPr>
            <a:normAutofit/>
          </a:bodyPr>
          <a:lstStyle>
            <a:lvl1pPr>
              <a:defRPr sz="2400"/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按一下以編輯標題</a:t>
            </a:r>
          </a:p>
        </p:txBody>
      </p:sp>
      <p:sp>
        <p:nvSpPr>
          <p:cNvPr id="9" name="文字版面配置區 10">
            <a:extLst>
              <a:ext uri="{FF2B5EF4-FFF2-40B4-BE49-F238E27FC236}">
                <a16:creationId xmlns:a16="http://schemas.microsoft.com/office/drawing/2014/main" id="{8450C998-0E74-48B5-A9C0-732162D42C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6115" y="311553"/>
            <a:ext cx="5066944" cy="461665"/>
          </a:xfrm>
        </p:spPr>
        <p:txBody>
          <a:bodyPr>
            <a:normAutofit/>
          </a:bodyPr>
          <a:lstStyle>
            <a:lvl1pPr>
              <a:defRPr sz="2400"/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按一下以編輯標題</a:t>
            </a:r>
          </a:p>
        </p:txBody>
      </p:sp>
    </p:spTree>
    <p:extLst>
      <p:ext uri="{BB962C8B-B14F-4D97-AF65-F5344CB8AC3E}">
        <p14:creationId xmlns:p14="http://schemas.microsoft.com/office/powerpoint/2010/main" val="360572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57701-44AD-E539-C251-2775ACC4B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803A1C-2708-2FDF-A8D9-90530CBE05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0E8E1E-9E6A-4A96-9BF7-1914460B6FB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99948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image" Target="../media/image2.svg"/><Relationship Id="rId13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5C4FF">
                <a:alpha val="29000"/>
              </a:srgbClr>
            </a:gs>
            <a:gs pos="29000">
              <a:srgbClr val="ECEDEF">
                <a:alpha val="79000"/>
              </a:srgbClr>
            </a:gs>
            <a:gs pos="77000">
              <a:srgbClr val="E9EBEF">
                <a:alpha val="76000"/>
              </a:srgbClr>
            </a:gs>
            <a:gs pos="100000">
              <a:srgbClr val="CEF8E4">
                <a:alpha val="50000"/>
              </a:srgbClr>
            </a:gs>
          </a:gsLst>
          <a:lin ang="1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279747" y="365126"/>
            <a:ext cx="11632507" cy="65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 userDrawn="1">
            <p:ph type="body" idx="1"/>
          </p:nvPr>
        </p:nvSpPr>
        <p:spPr>
          <a:xfrm>
            <a:off x="279746" y="1240221"/>
            <a:ext cx="11632507" cy="4556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" name="投影片編號版面配置區 3"/>
          <p:cNvSpPr>
            <a:spLocks noGrp="1"/>
          </p:cNvSpPr>
          <p:nvPr userDrawn="1">
            <p:ph type="sldNum" sz="quarter" idx="4"/>
          </p:nvPr>
        </p:nvSpPr>
        <p:spPr>
          <a:xfrm>
            <a:off x="11047281" y="6352389"/>
            <a:ext cx="864973" cy="365125"/>
          </a:xfrm>
          <a:prstGeom prst="rect">
            <a:avLst/>
          </a:prstGeom>
        </p:spPr>
        <p:txBody>
          <a:bodyPr/>
          <a:lstStyle>
            <a:lvl1pPr algn="r">
              <a:defRPr lang="en-US" altLang="zh-TW" sz="24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E0E8E1E-9E6A-4A96-9BF7-1914460B6FB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50DAEE-954E-7011-B426-1085B4ACD3DC}"/>
              </a:ext>
            </a:extLst>
          </p:cNvPr>
          <p:cNvSpPr/>
          <p:nvPr userDrawn="1"/>
        </p:nvSpPr>
        <p:spPr>
          <a:xfrm>
            <a:off x="-5252" y="0"/>
            <a:ext cx="279746" cy="652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353A679-73D8-78ED-69A1-6CBD07561811}"/>
              </a:ext>
            </a:extLst>
          </p:cNvPr>
          <p:cNvSpPr/>
          <p:nvPr userDrawn="1"/>
        </p:nvSpPr>
        <p:spPr>
          <a:xfrm>
            <a:off x="11912253" y="-12049"/>
            <a:ext cx="279746" cy="652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307CCFF2-3B6C-4C2D-BED0-A20D57F0755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5252" y="2493"/>
            <a:ext cx="12181231" cy="6853013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5D6319A7-EB33-4DA4-DB0C-0A4457BED19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746" y="6379276"/>
            <a:ext cx="1698172" cy="3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22" r:id="rId2"/>
    <p:sldLayoutId id="2147483726" r:id="rId3"/>
    <p:sldLayoutId id="2147483712" r:id="rId4"/>
    <p:sldLayoutId id="2147483728" r:id="rId5"/>
    <p:sldLayoutId id="2147483716" r:id="rId6"/>
    <p:sldLayoutId id="2147483719" r:id="rId7"/>
    <p:sldLayoutId id="2147483729" r:id="rId8"/>
    <p:sldLayoutId id="2147483730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副標題 2">
            <a:extLst>
              <a:ext uri="{FF2B5EF4-FFF2-40B4-BE49-F238E27FC236}">
                <a16:creationId xmlns:a16="http://schemas.microsoft.com/office/drawing/2014/main" id="{332C7A09-EB7D-4A63-BA8C-3717C9E2F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127" y="3631816"/>
            <a:ext cx="6804798" cy="369332"/>
          </a:xfrm>
          <a:noFill/>
          <a:ln>
            <a:noFill/>
          </a:ln>
        </p:spPr>
        <p:txBody>
          <a:bodyPr/>
          <a:lstStyle/>
          <a:p>
            <a:pPr/>
            <a:r>
              <a:rPr lang="en-US" altLang="zh-TW" dirty="0"/>
              <a:t>2026/08/03  |  報告人:Hunter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A5D0AC6-EF0D-42F4-A04B-FF113AF19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738" y="2662238"/>
            <a:ext cx="3846886" cy="757237"/>
          </a:xfrm>
        </p:spPr>
        <p:txBody>
          <a:bodyPr/>
          <a:lstStyle/>
          <a:p>
            <a:pPr/>
            <a:r>
              <a:rPr lang="zh-TW" altLang="en-US" dirty="0"/>
              <a:t>智能客服升級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1705A28-4748-ECE1-661E-4546EB00519B}"/>
              </a:ext>
            </a:extLst>
          </p:cNvPr>
          <p:cNvSpPr txBox="1"/>
          <p:nvPr/>
        </p:nvSpPr>
        <p:spPr>
          <a:xfrm>
            <a:off x="3487271" y="2730640"/>
            <a:ext cx="295872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zh-TW" altLang="en-US" sz="4000" b="1" dirty="0">
                <a:solidFill>
                  <a:schemeClr val="accent2"/>
                </a:solidFill>
              </a:rPr>
              <a:t>數位金融部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8F57216-2288-FDAD-4EAA-CBCA52B3B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1" lang="zh-TW" altLang="en-US" dirty="0"/>
              <a:t>01  三大升級重點</a:t>
            </a:r>
            <a:endParaRPr kumimoji="1" lang="en-US" altLang="zh-TW" dirty="0"/>
          </a:p>
          <a:p>
            <a:r>
              <a:rPr kumimoji="1" lang="zh-TW" altLang="en-US" dirty="0"/>
              <a:t>智能問答、全通路整合、人機協作</a:t>
            </a:r>
          </a:p>
          <a:p>
            <a:r>
              <a:rPr kumimoji="1" lang="zh-TW" altLang="en-US" dirty="0"/>
              <a:t>02  預期效益目標</a:t>
            </a:r>
          </a:p>
          <a:p>
            <a:r>
              <a:rPr kumimoji="1" lang="zh-TW" altLang="en-US" dirty="0"/>
              <a:t>以三個關鍵指標衡量成效</a:t>
            </a:r>
          </a:p>
          <a:p>
            <a:r>
              <a:rPr kumimoji="1" lang="zh-TW" altLang="en-US" dirty="0"/>
              <a:t>03  推動時程規劃</a:t>
            </a:r>
          </a:p>
          <a:p>
            <a:r>
              <a:rPr kumimoji="1" lang="zh-TW" altLang="en-US" dirty="0"/>
              <a:t>自需求盤點至上線試營運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144768"/>
            <a:ext cx="6400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2800" b="1">
                <a:solidFill>
                  <a:srgbClr val="344252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E6F30552-26FF-B28F-C4D5-3D749FBF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45" y="180992"/>
            <a:ext cx="11609852" cy="584775"/>
          </a:xfrm>
        </p:spPr>
        <p:txBody>
          <a:bodyPr/>
          <a:lstStyle/>
          <a:p>
            <a:pPr/>
            <a:r>
              <a:rPr lang="zh-TW" altLang="en-US" dirty="0"/>
              <a:t>三大升級重點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52DEC2-293F-350F-27D9-15A452B2E4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644" y="764763"/>
            <a:ext cx="11624609" cy="369332"/>
          </a:xfrm>
        </p:spPr>
        <p:txBody>
          <a:bodyPr/>
          <a:lstStyle/>
          <a:p>
            <a:pPr/>
            <a:r>
              <a:rPr lang="zh-TW" altLang="en-US" dirty="0"/>
              <a:t>從單點客服工具走向智能服務平台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2E6D4AEB-E8D8-4830-C585-E058C34F2D09}"/>
              </a:ext>
            </a:extLst>
          </p:cNvPr>
          <p:cNvSpPr/>
          <p:nvPr/>
        </p:nvSpPr>
        <p:spPr>
          <a:xfrm>
            <a:off x="1055801" y="1262290"/>
            <a:ext cx="3450210" cy="4817097"/>
          </a:xfrm>
          <a:prstGeom prst="roundRect">
            <a:avLst>
              <a:gd name="adj" fmla="val 2770"/>
            </a:avLst>
          </a:prstGeom>
          <a:solidFill>
            <a:schemeClr val="bg1"/>
          </a:solidFill>
          <a:ln>
            <a:noFill/>
          </a:ln>
          <a:effectLst>
            <a:outerShdw blurRad="127000" sx="103000" sy="103000" algn="ctr" rotWithShape="0">
              <a:schemeClr val="tx2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B571168D-473C-00D5-1477-3635F4645F92}"/>
              </a:ext>
            </a:extLst>
          </p:cNvPr>
          <p:cNvSpPr/>
          <p:nvPr/>
        </p:nvSpPr>
        <p:spPr>
          <a:xfrm>
            <a:off x="1147713" y="1365986"/>
            <a:ext cx="3266387" cy="369055"/>
          </a:xfrm>
          <a:prstGeom prst="roundRect">
            <a:avLst>
              <a:gd name="adj" fmla="val 22085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dirty="0">
                <a:solidFill>
                  <a:schemeClr val="bg1"/>
                </a:solidFill>
              </a:rPr>
              <a:t>智能問答</a:t>
            </a:r>
          </a:p>
        </p:txBody>
      </p:sp>
      <p:sp>
        <p:nvSpPr>
          <p:cNvPr id="30" name="圓角化同側角落矩形 29">
            <a:extLst>
              <a:ext uri="{FF2B5EF4-FFF2-40B4-BE49-F238E27FC236}">
                <a16:creationId xmlns:a16="http://schemas.microsoft.com/office/drawing/2014/main" id="{0ADA44A6-85F5-542F-7F87-38F667733257}"/>
              </a:ext>
            </a:extLst>
          </p:cNvPr>
          <p:cNvSpPr/>
          <p:nvPr/>
        </p:nvSpPr>
        <p:spPr>
          <a:xfrm rot="10800000">
            <a:off x="1055801" y="3582186"/>
            <a:ext cx="3450210" cy="2496904"/>
          </a:xfrm>
          <a:prstGeom prst="round2SameRect">
            <a:avLst>
              <a:gd name="adj1" fmla="val 3712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2" name="三角形 31">
            <a:extLst>
              <a:ext uri="{FF2B5EF4-FFF2-40B4-BE49-F238E27FC236}">
                <a16:creationId xmlns:a16="http://schemas.microsoft.com/office/drawing/2014/main" id="{051C0686-0D36-86E8-09F3-5C59775BC8AE}"/>
              </a:ext>
            </a:extLst>
          </p:cNvPr>
          <p:cNvSpPr/>
          <p:nvPr/>
        </p:nvSpPr>
        <p:spPr>
          <a:xfrm rot="10800000">
            <a:off x="2681924" y="3574827"/>
            <a:ext cx="197962" cy="11766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EA9F331-E99F-145D-BB6F-2AD521CAFDA5}"/>
              </a:ext>
            </a:extLst>
          </p:cNvPr>
          <p:cNvSpPr txBox="1"/>
          <p:nvPr/>
        </p:nvSpPr>
        <p:spPr>
          <a:xfrm>
            <a:off x="1147713" y="1971486"/>
            <a:ext cx="3266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400" dirty="0">
                <a:solidFill>
                  <a:schemeClr val="tx2"/>
                </a:solidFill>
              </a:rPr>
              <a:t>AI 意圖識別引擎</a:t>
            </a:r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F8F82C97-02F4-477E-560A-1AD969F873B8}"/>
              </a:ext>
            </a:extLst>
          </p:cNvPr>
          <p:cNvCxnSpPr/>
          <p:nvPr/>
        </p:nvCxnSpPr>
        <p:spPr>
          <a:xfrm>
            <a:off x="1147713" y="2677212"/>
            <a:ext cx="326638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F0645F6-853E-6243-5140-30DFC0B24366}"/>
              </a:ext>
            </a:extLst>
          </p:cNvPr>
          <p:cNvSpPr txBox="1"/>
          <p:nvPr/>
        </p:nvSpPr>
        <p:spPr>
          <a:xfrm>
            <a:off x="1147713" y="2838752"/>
            <a:ext cx="3266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400" dirty="0">
                <a:solidFill>
                  <a:schemeClr val="tx2"/>
                </a:solidFill>
              </a:rPr>
              <a:t>常見問題自動回覆</a:t>
            </a: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F08A2F95-584D-702B-0D4E-F0135A99017A}"/>
              </a:ext>
            </a:extLst>
          </p:cNvPr>
          <p:cNvGrpSpPr/>
          <p:nvPr/>
        </p:nvGrpSpPr>
        <p:grpSpPr>
          <a:xfrm>
            <a:off x="1147713" y="3877726"/>
            <a:ext cx="3266386" cy="584777"/>
            <a:chOff x="1147713" y="3875701"/>
            <a:chExt cx="3266386" cy="584777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A765FFF0-2CF1-5129-F4D5-5C3BAC3D6402}"/>
                </a:ext>
              </a:extLst>
            </p:cNvPr>
            <p:cNvSpPr txBox="1"/>
            <p:nvPr/>
          </p:nvSpPr>
          <p:spPr>
            <a:xfrm>
              <a:off x="1147713" y="3875701"/>
              <a:ext cx="3266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zh-TW" altLang="en-US" sz="1400" b="1" dirty="0">
                  <a:solidFill>
                    <a:schemeClr val="bg1"/>
                  </a:solidFill>
                </a:rPr>
                <a:t>多輪對話理解上下文</a:t>
              </a:r>
            </a:p>
          </p:txBody>
        </p:sp>
      </p:grp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506B14ED-4056-CF1D-8ED0-A1DDD93147F3}"/>
              </a:ext>
            </a:extLst>
          </p:cNvPr>
          <p:cNvSpPr/>
          <p:nvPr/>
        </p:nvSpPr>
        <p:spPr>
          <a:xfrm>
            <a:off x="4746391" y="1262290"/>
            <a:ext cx="3450210" cy="4817097"/>
          </a:xfrm>
          <a:prstGeom prst="roundRect">
            <a:avLst>
              <a:gd name="adj" fmla="val 2770"/>
            </a:avLst>
          </a:prstGeom>
          <a:solidFill>
            <a:schemeClr val="bg1"/>
          </a:solidFill>
          <a:ln>
            <a:noFill/>
          </a:ln>
          <a:effectLst>
            <a:outerShdw blurRad="127000" sx="103000" sy="103000" algn="ctr" rotWithShape="0">
              <a:schemeClr val="tx2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2" name="圓角矩形 51">
            <a:extLst>
              <a:ext uri="{FF2B5EF4-FFF2-40B4-BE49-F238E27FC236}">
                <a16:creationId xmlns:a16="http://schemas.microsoft.com/office/drawing/2014/main" id="{D9B5A8CE-6D7C-94E1-33F7-1B25C76B198C}"/>
              </a:ext>
            </a:extLst>
          </p:cNvPr>
          <p:cNvSpPr/>
          <p:nvPr/>
        </p:nvSpPr>
        <p:spPr>
          <a:xfrm>
            <a:off x="4838303" y="1365986"/>
            <a:ext cx="3266387" cy="369055"/>
          </a:xfrm>
          <a:prstGeom prst="roundRect">
            <a:avLst>
              <a:gd name="adj" fmla="val 22085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dirty="0">
                <a:solidFill>
                  <a:schemeClr val="bg1"/>
                </a:solidFill>
              </a:rPr>
              <a:t>全通路整合</a:t>
            </a:r>
          </a:p>
        </p:txBody>
      </p:sp>
      <p:sp>
        <p:nvSpPr>
          <p:cNvPr id="53" name="圓角化同側角落矩形 52">
            <a:extLst>
              <a:ext uri="{FF2B5EF4-FFF2-40B4-BE49-F238E27FC236}">
                <a16:creationId xmlns:a16="http://schemas.microsoft.com/office/drawing/2014/main" id="{9CE992B7-A974-8F39-E059-9C48204682BD}"/>
              </a:ext>
            </a:extLst>
          </p:cNvPr>
          <p:cNvSpPr/>
          <p:nvPr/>
        </p:nvSpPr>
        <p:spPr>
          <a:xfrm rot="10800000">
            <a:off x="4746391" y="3582186"/>
            <a:ext cx="3450210" cy="2496904"/>
          </a:xfrm>
          <a:prstGeom prst="round2SameRect">
            <a:avLst>
              <a:gd name="adj1" fmla="val 3712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4" name="三角形 53">
            <a:extLst>
              <a:ext uri="{FF2B5EF4-FFF2-40B4-BE49-F238E27FC236}">
                <a16:creationId xmlns:a16="http://schemas.microsoft.com/office/drawing/2014/main" id="{B9220BF8-84F0-5114-2B9B-747477B97EE1}"/>
              </a:ext>
            </a:extLst>
          </p:cNvPr>
          <p:cNvSpPr/>
          <p:nvPr/>
        </p:nvSpPr>
        <p:spPr>
          <a:xfrm rot="10800000">
            <a:off x="6372514" y="3574827"/>
            <a:ext cx="197962" cy="11766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3B164D6-D2CC-18BB-0448-141883D276DF}"/>
              </a:ext>
            </a:extLst>
          </p:cNvPr>
          <p:cNvSpPr txBox="1"/>
          <p:nvPr/>
        </p:nvSpPr>
        <p:spPr>
          <a:xfrm>
            <a:off x="4838303" y="1971486"/>
            <a:ext cx="3266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400" dirty="0">
                <a:solidFill>
                  <a:schemeClr val="tx2"/>
                </a:solidFill>
              </a:rPr>
              <a:t>LINE 與 App 訊息互通</a:t>
            </a:r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12EC9DE0-7A12-1767-EDBE-40BAA0ABF4C5}"/>
              </a:ext>
            </a:extLst>
          </p:cNvPr>
          <p:cNvCxnSpPr/>
          <p:nvPr/>
        </p:nvCxnSpPr>
        <p:spPr>
          <a:xfrm>
            <a:off x="4838303" y="2677212"/>
            <a:ext cx="326638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9B257C25-5477-886E-8424-17B356E7A376}"/>
              </a:ext>
            </a:extLst>
          </p:cNvPr>
          <p:cNvSpPr txBox="1"/>
          <p:nvPr/>
        </p:nvSpPr>
        <p:spPr>
          <a:xfrm>
            <a:off x="4838303" y="2838752"/>
            <a:ext cx="3266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400" dirty="0">
                <a:solidFill>
                  <a:schemeClr val="tx2"/>
                </a:solidFill>
              </a:rPr>
              <a:t>對話紀錄跨通路同步</a:t>
            </a:r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AF6E6B00-97CD-D46E-D408-273218C97FDE}"/>
              </a:ext>
            </a:extLst>
          </p:cNvPr>
          <p:cNvGrpSpPr/>
          <p:nvPr/>
        </p:nvGrpSpPr>
        <p:grpSpPr>
          <a:xfrm>
            <a:off x="4838303" y="3877726"/>
            <a:ext cx="3266386" cy="584777"/>
            <a:chOff x="1147713" y="3875701"/>
            <a:chExt cx="3266386" cy="584777"/>
          </a:xfrm>
        </p:grpSpPr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A5947F46-089A-620E-942D-2F5966D48E7B}"/>
                </a:ext>
              </a:extLst>
            </p:cNvPr>
            <p:cNvSpPr txBox="1"/>
            <p:nvPr/>
          </p:nvSpPr>
          <p:spPr>
            <a:xfrm>
              <a:off x="1147713" y="3875701"/>
              <a:ext cx="3266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zh-TW" altLang="en-US" sz="1400" b="1" dirty="0">
                  <a:solidFill>
                    <a:schemeClr val="bg1"/>
                  </a:solidFill>
                </a:rPr>
                <a:t>單一後台統一管理</a:t>
              </a:r>
            </a:p>
          </p:txBody>
        </p:sp>
      </p:grpSp>
      <p:sp>
        <p:nvSpPr>
          <p:cNvPr id="69" name="圓角矩形 68">
            <a:extLst>
              <a:ext uri="{FF2B5EF4-FFF2-40B4-BE49-F238E27FC236}">
                <a16:creationId xmlns:a16="http://schemas.microsoft.com/office/drawing/2014/main" id="{7A17D45D-EE34-E98C-EAB2-CA297F989094}"/>
              </a:ext>
            </a:extLst>
          </p:cNvPr>
          <p:cNvSpPr/>
          <p:nvPr/>
        </p:nvSpPr>
        <p:spPr>
          <a:xfrm>
            <a:off x="8444185" y="1262290"/>
            <a:ext cx="3450210" cy="4817097"/>
          </a:xfrm>
          <a:prstGeom prst="roundRect">
            <a:avLst>
              <a:gd name="adj" fmla="val 2770"/>
            </a:avLst>
          </a:prstGeom>
          <a:solidFill>
            <a:schemeClr val="bg1"/>
          </a:solidFill>
          <a:ln>
            <a:noFill/>
          </a:ln>
          <a:effectLst>
            <a:outerShdw blurRad="127000" sx="103000" sy="103000" algn="ctr" rotWithShape="0">
              <a:schemeClr val="tx2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70" name="圓角矩形 69">
            <a:extLst>
              <a:ext uri="{FF2B5EF4-FFF2-40B4-BE49-F238E27FC236}">
                <a16:creationId xmlns:a16="http://schemas.microsoft.com/office/drawing/2014/main" id="{239C1AB4-4733-15DD-ABA4-760442539CE2}"/>
              </a:ext>
            </a:extLst>
          </p:cNvPr>
          <p:cNvSpPr/>
          <p:nvPr/>
        </p:nvSpPr>
        <p:spPr>
          <a:xfrm>
            <a:off x="8536097" y="1365986"/>
            <a:ext cx="3266387" cy="369055"/>
          </a:xfrm>
          <a:prstGeom prst="roundRect">
            <a:avLst>
              <a:gd name="adj" fmla="val 22085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dirty="0">
                <a:solidFill>
                  <a:schemeClr val="bg1"/>
                </a:solidFill>
              </a:rPr>
              <a:t>人機協作</a:t>
            </a:r>
          </a:p>
        </p:txBody>
      </p:sp>
      <p:sp>
        <p:nvSpPr>
          <p:cNvPr id="71" name="圓角化同側角落矩形 70">
            <a:extLst>
              <a:ext uri="{FF2B5EF4-FFF2-40B4-BE49-F238E27FC236}">
                <a16:creationId xmlns:a16="http://schemas.microsoft.com/office/drawing/2014/main" id="{1CBF6052-DA56-BAF1-B3D0-17A450366C70}"/>
              </a:ext>
            </a:extLst>
          </p:cNvPr>
          <p:cNvSpPr/>
          <p:nvPr/>
        </p:nvSpPr>
        <p:spPr>
          <a:xfrm rot="10800000">
            <a:off x="8444185" y="3582186"/>
            <a:ext cx="3450210" cy="2496904"/>
          </a:xfrm>
          <a:prstGeom prst="round2SameRect">
            <a:avLst>
              <a:gd name="adj1" fmla="val 3712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72" name="三角形 71">
            <a:extLst>
              <a:ext uri="{FF2B5EF4-FFF2-40B4-BE49-F238E27FC236}">
                <a16:creationId xmlns:a16="http://schemas.microsoft.com/office/drawing/2014/main" id="{295B36DF-1DE6-985E-143A-CED843D42E06}"/>
              </a:ext>
            </a:extLst>
          </p:cNvPr>
          <p:cNvSpPr/>
          <p:nvPr/>
        </p:nvSpPr>
        <p:spPr>
          <a:xfrm rot="10800000">
            <a:off x="10070308" y="3574827"/>
            <a:ext cx="197962" cy="11766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074262CF-14FC-4756-1747-CE45DDBCD623}"/>
              </a:ext>
            </a:extLst>
          </p:cNvPr>
          <p:cNvSpPr txBox="1"/>
          <p:nvPr/>
        </p:nvSpPr>
        <p:spPr>
          <a:xfrm>
            <a:off x="8536097" y="1971486"/>
            <a:ext cx="3266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400" dirty="0">
                <a:solidFill>
                  <a:schemeClr val="tx2"/>
                </a:solidFill>
              </a:rPr>
              <a:t>複雜案件即時轉真人</a:t>
            </a:r>
          </a:p>
        </p:txBody>
      </p:sp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6A935448-0BD0-A058-B15E-60E2B649BCB6}"/>
              </a:ext>
            </a:extLst>
          </p:cNvPr>
          <p:cNvCxnSpPr/>
          <p:nvPr/>
        </p:nvCxnSpPr>
        <p:spPr>
          <a:xfrm>
            <a:off x="8536097" y="2677212"/>
            <a:ext cx="326638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C7FBC570-F888-DF7D-52FD-009FA1D04DEF}"/>
              </a:ext>
            </a:extLst>
          </p:cNvPr>
          <p:cNvSpPr txBox="1"/>
          <p:nvPr/>
        </p:nvSpPr>
        <p:spPr>
          <a:xfrm>
            <a:off x="8536097" y="2838752"/>
            <a:ext cx="3266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400" dirty="0">
                <a:solidFill>
                  <a:schemeClr val="tx2"/>
                </a:solidFill>
              </a:rPr>
              <a:t>AI 摘要輔助客服接手</a:t>
            </a:r>
          </a:p>
        </p:txBody>
      </p: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D333E8E4-1921-B038-B480-0C4AA06BD56E}"/>
              </a:ext>
            </a:extLst>
          </p:cNvPr>
          <p:cNvGrpSpPr/>
          <p:nvPr/>
        </p:nvGrpSpPr>
        <p:grpSpPr>
          <a:xfrm>
            <a:off x="8536097" y="3877726"/>
            <a:ext cx="3266386" cy="1304076"/>
            <a:chOff x="1147713" y="3875701"/>
            <a:chExt cx="3266386" cy="1304076"/>
          </a:xfrm>
        </p:grpSpPr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60E12978-8B3B-1C0F-4090-F461F6BE0D78}"/>
                </a:ext>
              </a:extLst>
            </p:cNvPr>
            <p:cNvSpPr txBox="1"/>
            <p:nvPr/>
          </p:nvSpPr>
          <p:spPr>
            <a:xfrm>
              <a:off x="1147713" y="3875701"/>
              <a:ext cx="3266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zh-TW" altLang="en-US" sz="1400" b="1" dirty="0">
                  <a:solidFill>
                    <a:schemeClr val="bg1"/>
                  </a:solidFill>
                </a:rPr>
                <a:t>回覆建議即時生成</a:t>
              </a: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11247120" y="6144768"/>
            <a:ext cx="6400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2800" b="1">
                <a:solidFill>
                  <a:srgbClr val="344252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標題 9">
            <a:extLst>
              <a:ext uri="{FF2B5EF4-FFF2-40B4-BE49-F238E27FC236}">
                <a16:creationId xmlns:a16="http://schemas.microsoft.com/office/drawing/2014/main" id="{3FCF173C-0658-61D1-CB8E-B1386E697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45" y="180992"/>
            <a:ext cx="11609852" cy="584775"/>
          </a:xfrm>
        </p:spPr>
        <p:txBody>
          <a:bodyPr/>
          <a:lstStyle/>
          <a:p>
            <a:pPr/>
            <a:r>
              <a:rPr lang="zh-TW" altLang="en-US" dirty="0"/>
              <a:t>預期效益目標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2A97F58E-6F29-1557-3F45-9CF5694540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644" y="764763"/>
            <a:ext cx="11624609" cy="369332"/>
          </a:xfrm>
        </p:spPr>
        <p:txBody>
          <a:bodyPr/>
          <a:lstStyle/>
          <a:p>
            <a:pPr/>
            <a:r>
              <a:rPr lang="zh-TW" altLang="en-US" dirty="0"/>
              <a:t>上線半年內的三個關鍵指標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071BC74C-FB09-A4C8-BF9B-9E2F7F369FF6}"/>
              </a:ext>
            </a:extLst>
          </p:cNvPr>
          <p:cNvGrpSpPr/>
          <p:nvPr/>
        </p:nvGrpSpPr>
        <p:grpSpPr>
          <a:xfrm>
            <a:off x="1498994" y="2304110"/>
            <a:ext cx="2339102" cy="2106213"/>
            <a:chOff x="1571822" y="2153265"/>
            <a:chExt cx="2339102" cy="2106213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2C4BB13-A4C7-B3D7-FF6D-67FB35E4E3D7}"/>
                </a:ext>
              </a:extLst>
            </p:cNvPr>
            <p:cNvSpPr txBox="1"/>
            <p:nvPr/>
          </p:nvSpPr>
          <p:spPr>
            <a:xfrm>
              <a:off x="1416996" y="2153265"/>
              <a:ext cx="2651760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6600" b="1" dirty="0">
                  <a:solidFill>
                    <a:schemeClr val="accent3"/>
                  </a:solidFill>
                  <a:latin typeface="Poppins" pitchFamily="2" charset="0"/>
                  <a:cs typeface="Poppins" pitchFamily="2" charset="0"/>
                </a:rPr>
                <a:t>60%</a:t>
              </a:r>
              <a:endParaRPr kumimoji="1" lang="zh-TW" altLang="en-US" sz="6600" b="1" dirty="0">
                <a:solidFill>
                  <a:schemeClr val="accent3"/>
                </a:solidFill>
                <a:latin typeface="Poppins" pitchFamily="2" charset="0"/>
                <a:cs typeface="Poppins" pitchFamily="2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0600C456-436C-6BE2-8D0C-5D23E3555B31}"/>
                </a:ext>
              </a:extLst>
            </p:cNvPr>
            <p:cNvSpPr txBox="1"/>
            <p:nvPr/>
          </p:nvSpPr>
          <p:spPr>
            <a:xfrm>
              <a:off x="1956541" y="3313471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b="1" dirty="0">
                  <a:solidFill>
                    <a:schemeClr val="accent3"/>
                  </a:solidFill>
                  <a:latin typeface="+mn-ea"/>
                  <a:cs typeface="Poppins" pitchFamily="2" charset="0"/>
                </a:rPr>
                <a:t>自動解決率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5117814E-E8E9-C3E5-DED4-666898C8DE2D}"/>
                </a:ext>
              </a:extLst>
            </p:cNvPr>
            <p:cNvSpPr txBox="1"/>
            <p:nvPr/>
          </p:nvSpPr>
          <p:spPr>
            <a:xfrm>
              <a:off x="1571822" y="3736258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1400" dirty="0">
                  <a:solidFill>
                    <a:schemeClr val="tx2"/>
                  </a:solidFill>
                  <a:latin typeface="+mn-ea"/>
                  <a:cs typeface="Poppins" pitchFamily="2" charset="0"/>
                </a:rPr>
                <a:t>常見問題由 AI 直接結案</a:t>
              </a: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0002A6EC-F85A-631A-1FA3-AA5D4B2A0E76}"/>
              </a:ext>
            </a:extLst>
          </p:cNvPr>
          <p:cNvGrpSpPr/>
          <p:nvPr/>
        </p:nvGrpSpPr>
        <p:grpSpPr>
          <a:xfrm>
            <a:off x="4926450" y="2304110"/>
            <a:ext cx="2339102" cy="2106213"/>
            <a:chOff x="5032776" y="2153265"/>
            <a:chExt cx="2339102" cy="2106213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52E74FA5-45E9-0CA2-E2F4-A2A5E216D9DE}"/>
                </a:ext>
              </a:extLst>
            </p:cNvPr>
            <p:cNvSpPr txBox="1"/>
            <p:nvPr/>
          </p:nvSpPr>
          <p:spPr>
            <a:xfrm>
              <a:off x="4879493" y="2153265"/>
              <a:ext cx="2651760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6600" b="1" dirty="0">
                  <a:solidFill>
                    <a:schemeClr val="accent2"/>
                  </a:solidFill>
                  <a:latin typeface="Poppins" pitchFamily="2" charset="0"/>
                  <a:cs typeface="Poppins" pitchFamily="2" charset="0"/>
                </a:rPr>
                <a:t>30秒</a:t>
              </a:r>
              <a:endParaRPr kumimoji="1" lang="zh-TW" altLang="en-US" sz="6600" b="1" dirty="0">
                <a:solidFill>
                  <a:schemeClr val="accent2"/>
                </a:solidFill>
                <a:latin typeface="Poppins" pitchFamily="2" charset="0"/>
                <a:cs typeface="Poppins" pitchFamily="2" charset="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BBCA5C8C-9F40-01C9-DD5C-E3EB0196DD6A}"/>
                </a:ext>
              </a:extLst>
            </p:cNvPr>
            <p:cNvSpPr txBox="1"/>
            <p:nvPr/>
          </p:nvSpPr>
          <p:spPr>
            <a:xfrm>
              <a:off x="5417495" y="3313471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b="1" dirty="0">
                  <a:solidFill>
                    <a:schemeClr val="accent2"/>
                  </a:solidFill>
                  <a:latin typeface="+mn-ea"/>
                  <a:cs typeface="Poppins" pitchFamily="2" charset="0"/>
                </a:rPr>
                <a:t>首次回應時間</a:t>
              </a: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94D58876-B64B-6BF6-8318-343BDE54AF16}"/>
                </a:ext>
              </a:extLst>
            </p:cNvPr>
            <p:cNvSpPr txBox="1"/>
            <p:nvPr/>
          </p:nvSpPr>
          <p:spPr>
            <a:xfrm>
              <a:off x="5032776" y="3736258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1400" dirty="0">
                  <a:solidFill>
                    <a:schemeClr val="tx2"/>
                  </a:solidFill>
                  <a:latin typeface="+mn-ea"/>
                  <a:cs typeface="Poppins" pitchFamily="2" charset="0"/>
                </a:rPr>
                <a:t>首次回應縮至半分鐘</a:t>
              </a:r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1FF0517A-8090-5EF1-18B8-05ED43C1E61D}"/>
              </a:ext>
            </a:extLst>
          </p:cNvPr>
          <p:cNvGrpSpPr/>
          <p:nvPr/>
        </p:nvGrpSpPr>
        <p:grpSpPr>
          <a:xfrm>
            <a:off x="8353905" y="2304110"/>
            <a:ext cx="2339102" cy="2106213"/>
            <a:chOff x="5032776" y="2153265"/>
            <a:chExt cx="2339102" cy="2106213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65241B3-DBA2-6040-A6EB-D4093439A9D0}"/>
                </a:ext>
              </a:extLst>
            </p:cNvPr>
            <p:cNvSpPr txBox="1"/>
            <p:nvPr/>
          </p:nvSpPr>
          <p:spPr>
            <a:xfrm>
              <a:off x="4881039" y="2153265"/>
              <a:ext cx="2651760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6600" b="1" dirty="0">
                  <a:solidFill>
                    <a:schemeClr val="accent5"/>
                  </a:solidFill>
                  <a:latin typeface="Poppins" pitchFamily="2" charset="0"/>
                  <a:cs typeface="Poppins" pitchFamily="2" charset="0"/>
                </a:rPr>
                <a:t>+15</a:t>
              </a:r>
              <a:endParaRPr kumimoji="1" lang="zh-TW" altLang="en-US" sz="6600" b="1" dirty="0">
                <a:solidFill>
                  <a:schemeClr val="accent5"/>
                </a:solidFill>
                <a:latin typeface="Poppins" pitchFamily="2" charset="0"/>
                <a:cs typeface="Poppins" pitchFamily="2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076AA310-5029-A422-3828-BE7C8440BB22}"/>
                </a:ext>
              </a:extLst>
            </p:cNvPr>
            <p:cNvSpPr txBox="1"/>
            <p:nvPr/>
          </p:nvSpPr>
          <p:spPr>
            <a:xfrm>
              <a:off x="5417495" y="3313471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b="1" dirty="0">
                  <a:solidFill>
                    <a:schemeClr val="accent5"/>
                  </a:solidFill>
                  <a:latin typeface="+mn-ea"/>
                  <a:cs typeface="Poppins" pitchFamily="2" charset="0"/>
                </a:rPr>
                <a:t>滿意度提升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7FB0A73A-1C78-6AAE-A364-D85E4ED6366B}"/>
                </a:ext>
              </a:extLst>
            </p:cNvPr>
            <p:cNvSpPr txBox="1"/>
            <p:nvPr/>
          </p:nvSpPr>
          <p:spPr>
            <a:xfrm>
              <a:off x="5032776" y="3736258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1400" dirty="0">
                  <a:solidFill>
                    <a:schemeClr val="tx2"/>
                  </a:solidFill>
                  <a:latin typeface="+mn-ea"/>
                  <a:cs typeface="Poppins" pitchFamily="2" charset="0"/>
                </a:rPr>
                <a:t>NPS 預期提升 15 分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1247120" y="6144768"/>
            <a:ext cx="6400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2800" b="1">
                <a:solidFill>
                  <a:srgbClr val="344252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4" name="直線單箭頭接點 33"/>
          <p:cNvCxnSpPr>
            <a:cxnSpLocks/>
          </p:cNvCxnSpPr>
          <p:nvPr/>
        </p:nvCxnSpPr>
        <p:spPr>
          <a:xfrm flipV="1">
            <a:off x="1603679" y="2227475"/>
            <a:ext cx="0" cy="2285228"/>
          </a:xfrm>
          <a:prstGeom prst="straightConnector1">
            <a:avLst/>
          </a:prstGeom>
          <a:ln>
            <a:solidFill>
              <a:schemeClr val="accent2"/>
            </a:solidFill>
            <a:tailEnd type="oval" w="lg" len="lg"/>
          </a:ln>
          <a:effectLst>
            <a:glow>
              <a:schemeClr val="accent1">
                <a:satMod val="175000"/>
                <a:alpha val="23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cxnSpLocks/>
          </p:cNvCxnSpPr>
          <p:nvPr/>
        </p:nvCxnSpPr>
        <p:spPr>
          <a:xfrm flipV="1">
            <a:off x="3856061" y="2227475"/>
            <a:ext cx="0" cy="2285228"/>
          </a:xfrm>
          <a:prstGeom prst="straightConnector1">
            <a:avLst/>
          </a:prstGeom>
          <a:ln>
            <a:solidFill>
              <a:schemeClr val="accent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cxnSpLocks/>
          </p:cNvCxnSpPr>
          <p:nvPr/>
        </p:nvCxnSpPr>
        <p:spPr>
          <a:xfrm>
            <a:off x="4146181" y="4728703"/>
            <a:ext cx="0" cy="575918"/>
          </a:xfrm>
          <a:prstGeom prst="straightConnector1">
            <a:avLst/>
          </a:prstGeom>
          <a:ln>
            <a:solidFill>
              <a:schemeClr val="accent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版面配置區 6"/>
          <p:cNvSpPr txBox="1">
            <a:spLocks/>
          </p:cNvSpPr>
          <p:nvPr/>
        </p:nvSpPr>
        <p:spPr>
          <a:xfrm>
            <a:off x="7702450" y="1912061"/>
            <a:ext cx="3514984" cy="173066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zh-TW"/>
            </a:defPPr>
            <a:lvl1pPr indent="0">
              <a:lnSpc>
                <a:spcPts val="2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  <a:latin typeface="+mn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需求訪談完成八成,知識庫盤點進行中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3" name="內容版面配置區 15"/>
          <p:cNvSpPr txBox="1">
            <a:spLocks/>
          </p:cNvSpPr>
          <p:nvPr/>
        </p:nvSpPr>
        <p:spPr>
          <a:xfrm>
            <a:off x="1701160" y="2081382"/>
            <a:ext cx="1408353" cy="3562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0"/>
              </a:spcBef>
              <a:buNone/>
            </a:pPr>
            <a:r>
              <a:rPr lang="zh-TW" altLang="en-US" sz="1800" b="1" dirty="0">
                <a:solidFill>
                  <a:schemeClr val="tx2"/>
                </a:solidFill>
              </a:rPr>
              <a:t>需求盤點</a:t>
            </a:r>
            <a:endParaRPr lang="en-US" altLang="zh-TW" sz="1800" b="1" dirty="0">
              <a:solidFill>
                <a:schemeClr val="tx2"/>
              </a:solidFill>
            </a:endParaRPr>
          </a:p>
        </p:txBody>
      </p:sp>
      <p:sp>
        <p:nvSpPr>
          <p:cNvPr id="144" name="文字版面配置區 6"/>
          <p:cNvSpPr txBox="1">
            <a:spLocks/>
          </p:cNvSpPr>
          <p:nvPr/>
        </p:nvSpPr>
        <p:spPr>
          <a:xfrm>
            <a:off x="1701160" y="2437642"/>
            <a:ext cx="1846792" cy="1089465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buNone/>
            </a:pP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彙整客服常見問題與知識庫</a:t>
            </a:r>
          </a:p>
        </p:txBody>
      </p:sp>
      <p:sp>
        <p:nvSpPr>
          <p:cNvPr id="148" name="內容版面配置區 15"/>
          <p:cNvSpPr txBox="1">
            <a:spLocks/>
          </p:cNvSpPr>
          <p:nvPr/>
        </p:nvSpPr>
        <p:spPr>
          <a:xfrm>
            <a:off x="3975154" y="2081382"/>
            <a:ext cx="1627511" cy="372837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indent="0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b="1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/>
            <a:r>
              <a:rPr lang="zh-TW" altLang="en-US" dirty="0">
                <a:solidFill>
                  <a:schemeClr val="tx2"/>
                </a:solidFill>
              </a:rPr>
              <a:t>系統建置</a:t>
            </a:r>
            <a:endParaRPr lang="en-US" altLang="zh-TW" dirty="0">
              <a:solidFill>
                <a:schemeClr val="tx2"/>
              </a:solidFill>
            </a:endParaRPr>
          </a:p>
        </p:txBody>
      </p:sp>
      <p:sp>
        <p:nvSpPr>
          <p:cNvPr id="149" name="文字版面配置區 6"/>
          <p:cNvSpPr txBox="1">
            <a:spLocks/>
          </p:cNvSpPr>
          <p:nvPr/>
        </p:nvSpPr>
        <p:spPr>
          <a:xfrm>
            <a:off x="3995702" y="2437642"/>
            <a:ext cx="2608748" cy="832985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buNone/>
            </a:pP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AI 模型訓練與通路串接</a:t>
            </a:r>
          </a:p>
        </p:txBody>
      </p:sp>
      <p:sp>
        <p:nvSpPr>
          <p:cNvPr id="181" name="內容版面配置區 15"/>
          <p:cNvSpPr txBox="1">
            <a:spLocks/>
          </p:cNvSpPr>
          <p:nvPr/>
        </p:nvSpPr>
        <p:spPr>
          <a:xfrm>
            <a:off x="4203018" y="5175651"/>
            <a:ext cx="1561131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0"/>
              </a:spcBef>
              <a:buNone/>
            </a:pPr>
            <a:r>
              <a:rPr lang="zh-TW" altLang="en-US" sz="1800" b="1" dirty="0">
                <a:solidFill>
                  <a:schemeClr val="tx2"/>
                </a:solidFill>
              </a:rPr>
              <a:t>上線試營運</a:t>
            </a:r>
            <a:endParaRPr lang="en-US" altLang="zh-TW" sz="1800" b="1" dirty="0">
              <a:solidFill>
                <a:schemeClr val="tx2"/>
              </a:solidFill>
            </a:endParaRPr>
          </a:p>
        </p:txBody>
      </p:sp>
      <p:sp>
        <p:nvSpPr>
          <p:cNvPr id="182" name="文字版面配置區 6"/>
          <p:cNvSpPr txBox="1">
            <a:spLocks/>
          </p:cNvSpPr>
          <p:nvPr/>
        </p:nvSpPr>
        <p:spPr>
          <a:xfrm>
            <a:off x="4223566" y="5483258"/>
            <a:ext cx="2101704" cy="83298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buNone/>
            </a:pP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先開放一成流量觀察成效</a:t>
            </a:r>
          </a:p>
        </p:txBody>
      </p:sp>
      <p:sp>
        <p:nvSpPr>
          <p:cNvPr id="44" name="內容版面配置區 15"/>
          <p:cNvSpPr txBox="1">
            <a:spLocks/>
          </p:cNvSpPr>
          <p:nvPr/>
        </p:nvSpPr>
        <p:spPr>
          <a:xfrm>
            <a:off x="7702450" y="1555801"/>
            <a:ext cx="2558959" cy="341632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0"/>
              </a:spcBef>
              <a:buNone/>
            </a:pPr>
            <a:r>
              <a:rPr lang="zh-TW" altLang="en-US" sz="1800" b="1" dirty="0">
                <a:solidFill>
                  <a:schemeClr val="tx2"/>
                </a:solidFill>
              </a:rPr>
              <a:t>目前進度</a:t>
            </a:r>
          </a:p>
        </p:txBody>
      </p:sp>
      <p:sp>
        <p:nvSpPr>
          <p:cNvPr id="38" name="標題 3"/>
          <p:cNvSpPr txBox="1">
            <a:spLocks/>
          </p:cNvSpPr>
          <p:nvPr/>
        </p:nvSpPr>
        <p:spPr>
          <a:xfrm>
            <a:off x="7702450" y="1080707"/>
            <a:ext cx="2263643" cy="475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285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800" b="1" dirty="0">
                <a:solidFill>
                  <a:schemeClr val="accent3"/>
                </a:solidFill>
                <a:latin typeface="+mn-ea"/>
                <a:ea typeface="+mn-ea"/>
              </a:rPr>
              <a:t>進行中</a:t>
            </a:r>
            <a:r>
              <a:rPr lang="en-US" altLang="zh-TW" sz="1800" b="1" dirty="0">
                <a:solidFill>
                  <a:schemeClr val="accent3"/>
                </a:solidFill>
                <a:latin typeface="+mn-ea"/>
                <a:ea typeface="+mn-ea"/>
              </a:rPr>
              <a:t> / </a:t>
            </a:r>
            <a:r>
              <a:rPr lang="zh-TW" altLang="en-US" sz="1800" b="1" dirty="0">
                <a:solidFill>
                  <a:schemeClr val="accent3"/>
                </a:solidFill>
                <a:latin typeface="+mn-ea"/>
                <a:ea typeface="+mn-ea"/>
              </a:rPr>
              <a:t>後續規劃</a:t>
            </a:r>
            <a:endParaRPr lang="en-US" altLang="zh-TW" sz="1800" b="1" dirty="0">
              <a:solidFill>
                <a:schemeClr val="accent3"/>
              </a:solidFill>
              <a:latin typeface="+mn-ea"/>
              <a:ea typeface="+mn-ea"/>
            </a:endParaRPr>
          </a:p>
        </p:txBody>
      </p:sp>
      <p:sp>
        <p:nvSpPr>
          <p:cNvPr id="49" name="標題 9"/>
          <p:cNvSpPr>
            <a:spLocks noGrp="1"/>
          </p:cNvSpPr>
          <p:nvPr>
            <p:ph type="title"/>
          </p:nvPr>
        </p:nvSpPr>
        <p:spPr>
          <a:xfrm>
            <a:off x="287645" y="180992"/>
            <a:ext cx="11609852" cy="584775"/>
          </a:xfrm>
        </p:spPr>
        <p:txBody>
          <a:bodyPr/>
          <a:lstStyle/>
          <a:p>
            <a:pPr/>
            <a:r>
              <a:rPr lang="zh-TW" altLang="en-US" dirty="0"/>
              <a:t>推動時程規劃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A670836D-7670-1A1B-65BD-689BCC56E1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644" y="764763"/>
            <a:ext cx="11624609" cy="369332"/>
          </a:xfrm>
        </p:spPr>
        <p:txBody>
          <a:bodyPr/>
          <a:lstStyle/>
          <a:p>
            <a:pPr/>
            <a:r>
              <a:rPr lang="zh-TW" altLang="en-US" dirty="0"/>
              <a:t>四個月分階段推進,十一月上線試營運</a:t>
            </a:r>
          </a:p>
        </p:txBody>
      </p:sp>
      <p:sp>
        <p:nvSpPr>
          <p:cNvPr id="6" name="矩形 5"/>
          <p:cNvSpPr/>
          <p:nvPr/>
        </p:nvSpPr>
        <p:spPr>
          <a:xfrm>
            <a:off x="347923" y="4829070"/>
            <a:ext cx="8386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1400" b="1" dirty="0">
                <a:solidFill>
                  <a:schemeClr val="tx2"/>
                </a:solidFill>
                <a:latin typeface="+mn-ea"/>
              </a:rPr>
              <a:t>八月</a:t>
            </a:r>
            <a:endParaRPr lang="en-US" altLang="zh-TW" sz="1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345435" y="4829070"/>
            <a:ext cx="5164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1400" b="1" dirty="0">
                <a:solidFill>
                  <a:schemeClr val="tx2"/>
                </a:solidFill>
                <a:latin typeface="+mn-ea"/>
              </a:rPr>
              <a:t>九月</a:t>
            </a:r>
            <a:endParaRPr lang="en-US" altLang="zh-TW" sz="1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79214" y="4829070"/>
            <a:ext cx="5164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1400" b="1" dirty="0">
                <a:solidFill>
                  <a:schemeClr val="tx2"/>
                </a:solidFill>
                <a:latin typeface="+mn-ea"/>
              </a:rPr>
              <a:t>十月</a:t>
            </a:r>
            <a:endParaRPr lang="en-US" altLang="zh-TW" sz="1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702808" y="4815723"/>
            <a:ext cx="7922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TW" sz="1400" b="1" dirty="0">
                <a:solidFill>
                  <a:schemeClr val="tx2"/>
                </a:solidFill>
                <a:latin typeface="+mn-ea"/>
              </a:rPr>
              <a:t>上線</a:t>
            </a:r>
            <a:endParaRPr lang="en-US" altLang="zh-TW" sz="14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8" name="五邊形 41">
            <a:extLst>
              <a:ext uri="{FF2B5EF4-FFF2-40B4-BE49-F238E27FC236}">
                <a16:creationId xmlns:a16="http://schemas.microsoft.com/office/drawing/2014/main" id="{9A078A82-E768-4495-9A12-A71BCB974675}"/>
              </a:ext>
            </a:extLst>
          </p:cNvPr>
          <p:cNvSpPr/>
          <p:nvPr/>
        </p:nvSpPr>
        <p:spPr>
          <a:xfrm>
            <a:off x="6325270" y="4512703"/>
            <a:ext cx="5475665" cy="21600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89F1FF"/>
              </a:solidFill>
            </a:endParaRPr>
          </a:p>
        </p:txBody>
      </p:sp>
      <p:sp>
        <p:nvSpPr>
          <p:cNvPr id="29" name="五邊形 39">
            <a:extLst>
              <a:ext uri="{FF2B5EF4-FFF2-40B4-BE49-F238E27FC236}">
                <a16:creationId xmlns:a16="http://schemas.microsoft.com/office/drawing/2014/main" id="{0A9139E5-BBCF-4C1C-B2EB-40EE669DB408}"/>
              </a:ext>
            </a:extLst>
          </p:cNvPr>
          <p:cNvSpPr/>
          <p:nvPr/>
        </p:nvSpPr>
        <p:spPr>
          <a:xfrm>
            <a:off x="412657" y="4512703"/>
            <a:ext cx="6998937" cy="216000"/>
          </a:xfrm>
          <a:prstGeom prst="homePlate">
            <a:avLst/>
          </a:prstGeom>
          <a:gradFill>
            <a:gsLst>
              <a:gs pos="100000">
                <a:schemeClr val="tx2">
                  <a:lumMod val="10000"/>
                  <a:lumOff val="90000"/>
                  <a:alpha val="8000"/>
                </a:schemeClr>
              </a:gs>
              <a:gs pos="0">
                <a:schemeClr val="accent2"/>
              </a:gs>
              <a:gs pos="50000">
                <a:schemeClr val="accent2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 b="1" dirty="0">
              <a:solidFill>
                <a:schemeClr val="bg1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E136EF6D-4055-4586-9295-8A2068E94F7B}"/>
              </a:ext>
            </a:extLst>
          </p:cNvPr>
          <p:cNvCxnSpPr>
            <a:cxnSpLocks/>
          </p:cNvCxnSpPr>
          <p:nvPr/>
        </p:nvCxnSpPr>
        <p:spPr>
          <a:xfrm flipV="1">
            <a:off x="7513021" y="1678295"/>
            <a:ext cx="0" cy="2834408"/>
          </a:xfrm>
          <a:prstGeom prst="straightConnector1">
            <a:avLst/>
          </a:prstGeom>
          <a:ln>
            <a:solidFill>
              <a:schemeClr val="tx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11247120" y="6144768"/>
            <a:ext cx="6400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2800" b="1">
                <a:solidFill>
                  <a:srgbClr val="344252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圖片 2">
            <a:extLst>
              <a:ext uri="{FF2B5EF4-FFF2-40B4-BE49-F238E27FC236}">
                <a16:creationId xmlns:a16="http://schemas.microsoft.com/office/drawing/2014/main" id="{0F530230-7D17-43FF-896F-D2598C6D09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57" t="8991" r="4093" b="8411"/>
          <a:stretch/>
        </p:blipFill>
        <p:spPr>
          <a:xfrm>
            <a:off x="-14367" y="-3797"/>
            <a:ext cx="12206367" cy="686179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16557BF-50CF-431B-BECD-A96FA4FFB106}"/>
              </a:ext>
            </a:extLst>
          </p:cNvPr>
          <p:cNvSpPr/>
          <p:nvPr/>
        </p:nvSpPr>
        <p:spPr>
          <a:xfrm>
            <a:off x="0" y="0"/>
            <a:ext cx="6610350" cy="6858000"/>
          </a:xfrm>
          <a:prstGeom prst="rect">
            <a:avLst/>
          </a:prstGeom>
          <a:gradFill flip="none" rotWithShape="1">
            <a:gsLst>
              <a:gs pos="87000">
                <a:schemeClr val="bg1"/>
              </a:gs>
              <a:gs pos="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799170" y="3048536"/>
            <a:ext cx="6859859" cy="757130"/>
          </a:xfrm>
        </p:spPr>
        <p:txBody>
          <a:bodyPr/>
          <a:lstStyle/>
          <a:p>
            <a:pPr algn="l"/>
            <a:r>
              <a:rPr lang="en-US" altLang="zh-TW" dirty="0"/>
              <a:t>Thank you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外部簡報_淺">
      <a:dk1>
        <a:srgbClr val="000000"/>
      </a:dk1>
      <a:lt1>
        <a:srgbClr val="FFFFFF"/>
      </a:lt1>
      <a:dk2>
        <a:srgbClr val="344252"/>
      </a:dk2>
      <a:lt2>
        <a:srgbClr val="C0CAD6"/>
      </a:lt2>
      <a:accent1>
        <a:srgbClr val="687482"/>
      </a:accent1>
      <a:accent2>
        <a:srgbClr val="58D494"/>
      </a:accent2>
      <a:accent3>
        <a:srgbClr val="848BF2"/>
      </a:accent3>
      <a:accent4>
        <a:srgbClr val="538CFD"/>
      </a:accent4>
      <a:accent5>
        <a:srgbClr val="4AB7F9"/>
      </a:accent5>
      <a:accent6>
        <a:srgbClr val="BF0000"/>
      </a:accent6>
      <a:hlink>
        <a:srgbClr val="548BFD"/>
      </a:hlink>
      <a:folHlink>
        <a:srgbClr val="4566F6"/>
      </a:folHlink>
    </a:clrScheme>
    <a:fontScheme name="自訂 3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100000">
              <a:srgbClr val="344253">
                <a:alpha val="30165"/>
              </a:srgbClr>
            </a:gs>
            <a:gs pos="26000">
              <a:srgbClr val="344253">
                <a:alpha val="0"/>
              </a:srgbClr>
            </a:gs>
          </a:gsLst>
          <a:lin ang="0" scaled="0"/>
        </a:gradFill>
        <a:ln>
          <a:noFill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800" b="1" dirty="0">
            <a:solidFill>
              <a:schemeClr val="bg1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AD7AF4F1AFBE8248AE1781E3682D57CD" ma:contentTypeVersion="1" ma:contentTypeDescription="建立新的文件。" ma:contentTypeScope="" ma:versionID="c43ac5fca3cf3b9a35e6633478885155">
  <xsd:schema xmlns:xsd="http://www.w3.org/2001/XMLSchema" xmlns:xs="http://www.w3.org/2001/XMLSchema" xmlns:p="http://schemas.microsoft.com/office/2006/metadata/properties" xmlns:ns2="4ed108c5-cbc1-4401-9efa-634c12a4e57d" targetNamespace="http://schemas.microsoft.com/office/2006/metadata/properties" ma:root="true" ma:fieldsID="d4a3f3d7dab45dd4feb335b1a6590646" ns2:_="">
    <xsd:import namespace="4ed108c5-cbc1-4401-9efa-634c12a4e57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d108c5-cbc1-4401-9efa-634c12a4e57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用對象: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0DDD6E-C142-459E-A3A8-F59EDC8419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d108c5-cbc1-4401-9efa-634c12a4e5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8683D9-D42F-4851-AA9C-E0A89915BF7F}">
  <ds:schemaRefs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ed108c5-cbc1-4401-9efa-634c12a4e57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E38E9B8-74DE-4062-94C2-B742D48A87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75730</TotalTime>
  <Words>7131</Words>
  <Application>Microsoft Office PowerPoint</Application>
  <PresentationFormat>寬螢幕</PresentationFormat>
  <Paragraphs>1486</Paragraphs>
  <Slides>60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73" baseType="lpstr">
      <vt:lpstr>Alibaba PuHuiTi 2.0 55 Regular</vt:lpstr>
      <vt:lpstr>Noto Sans TC</vt:lpstr>
      <vt:lpstr>Noto Sans TC Light</vt:lpstr>
      <vt:lpstr>Noto Sans TC Medium</vt:lpstr>
      <vt:lpstr>Noto Sans TC SemiBold</vt:lpstr>
      <vt:lpstr>PingFang TC Medium</vt:lpstr>
      <vt:lpstr>微軟正黑體</vt:lpstr>
      <vt:lpstr>Arial</vt:lpstr>
      <vt:lpstr>Calibri</vt:lpstr>
      <vt:lpstr>Poppins</vt:lpstr>
      <vt:lpstr>Segoe UI</vt:lpstr>
      <vt:lpstr>Wingdings</vt:lpstr>
      <vt:lpstr>Office 佈景主題</vt:lpstr>
      <vt:lpstr>套版步驟</vt:lpstr>
      <vt:lpstr>套版技巧</vt:lpstr>
      <vt:lpstr>顏色配置參考</vt:lpstr>
      <vt:lpstr>資訊、技術、網路、監控、安全、裝置</vt:lpstr>
      <vt:lpstr>銀行、企業、組織、團隊、營運、人</vt:lpstr>
      <vt:lpstr>行銷、推廣、公告、訊息、產品、服務</vt:lpstr>
      <vt:lpstr>外部簡報模板</vt:lpstr>
      <vt:lpstr>PowerPoint 簡報</vt:lpstr>
      <vt:lpstr>PowerPoint 簡報</vt:lpstr>
      <vt:lpstr>PowerPoint 簡報</vt:lpstr>
      <vt:lpstr>PowerPoint 簡報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 重點文字</vt:lpstr>
      <vt:lpstr>頁面標題文字 重點文字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請輸入標題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頁面標題文字</vt:lpstr>
      <vt:lpstr>Thank you!</vt:lpstr>
      <vt:lpstr>PowerPoint 簡報</vt:lpstr>
    </vt:vector>
  </TitlesOfParts>
  <Company>國泰世華銀行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魏廷羽</dc:creator>
  <cp:lastModifiedBy>翟家葳 Zoey Chai</cp:lastModifiedBy>
  <cp:revision>1643</cp:revision>
  <dcterms:created xsi:type="dcterms:W3CDTF">2020-04-09T06:20:04Z</dcterms:created>
  <dcterms:modified xsi:type="dcterms:W3CDTF">2026-07-30T09:13:50Z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0x010100AD7AF4F1AFBE8248AE1781E3682D57CD</vt:lpwstr>
  </property>
</Properties>
</file>